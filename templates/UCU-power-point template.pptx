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30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hyperlink" Target="mailto:info@ucu.ac.ug" TargetMode="External"/><Relationship Id="rId7" Type="http://schemas.openxmlformats.org/officeDocument/2006/relationships/hyperlink" Target="https://ucu.ac.ug/" TargetMode="External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1" Type="http://schemas.microsoft.com/office/2007/relationships/hdphoto" Target="../media/image8.wdp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rgbClr val="D7014D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rgbClr val="FFD932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2836065" y="3885190"/>
            <a:ext cx="6359384" cy="2140032"/>
            <a:chOff x="3054867" y="3815867"/>
            <a:chExt cx="6359384" cy="2140032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4699683" y="3815867"/>
              <a:ext cx="4714568" cy="2140032"/>
              <a:chOff x="4173580" y="3135225"/>
              <a:chExt cx="5623246" cy="2568070"/>
            </a:xfrm>
          </p:grpSpPr>
          <p:pic>
            <p:nvPicPr>
              <p:cNvPr id="7" name="Picture 4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69732" l="0" r="98929">
                            <a14:foregroundMark x1="9524" y1="3376" x2="23929" y2="25378"/>
                            <a14:foregroundMark x1="15833" y1="5122" x2="19643" y2="5122"/>
                            <a14:foregroundMark x1="22381" y1="8149" x2="24762" y2="21187"/>
                            <a14:foregroundMark x1="10119" y1="11409" x2="14643" y2="23632"/>
                            <a14:foregroundMark x1="7738" y1="14435" x2="11071" y2="24796"/>
                            <a14:foregroundMark x1="75000" y1="9662" x2="75833" y2="23865"/>
                            <a14:foregroundMark x1="76548" y1="7800" x2="89643" y2="8964"/>
                            <a14:foregroundMark x1="82976" y1="2328" x2="91786" y2="20722"/>
                            <a14:foregroundMark x1="78452" y1="21769" x2="87024" y2="20605"/>
                            <a14:foregroundMark x1="83333" y1="14668" x2="83333" y2="14668"/>
                            <a14:foregroundMark x1="90357" y1="9895" x2="91190" y2="17695"/>
                            <a14:foregroundMark x1="17500" y1="9546" x2="17738" y2="17346"/>
                            <a14:foregroundMark x1="23929" y1="3609" x2="23333" y2="1012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6494" b="67238"/>
              <a:stretch>
                <a:fillRect/>
              </a:stretch>
            </p:blipFill>
            <p:spPr bwMode="auto">
              <a:xfrm>
                <a:off x="4238019" y="4511394"/>
                <a:ext cx="413410" cy="429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6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402" b="69905"/>
              <a:stretch>
                <a:fillRect/>
              </a:stretch>
            </p:blipFill>
            <p:spPr bwMode="auto">
              <a:xfrm>
                <a:off x="4296096" y="4883265"/>
                <a:ext cx="413865" cy="406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8" descr="Round black telephone logo, Telephone Icon, Phone File, electronics, logo,  black And White png | PNGWin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97935" l="1522" r="100000">
                            <a14:foregroundMark x1="32717" y1="37283" x2="32717" y2="37283"/>
                            <a14:foregroundMark x1="36957" y1="24565" x2="36957" y2="24565"/>
                            <a14:foregroundMark x1="46304" y1="30435" x2="46304" y2="30435"/>
                            <a14:foregroundMark x1="55435" y1="30326" x2="55435" y2="30326"/>
                            <a14:foregroundMark x1="65870" y1="27826" x2="65870" y2="27826"/>
                            <a14:foregroundMark x1="73152" y1="43478" x2="73152" y2="43478"/>
                            <a14:foregroundMark x1="57500" y1="44783" x2="57500" y2="44783"/>
                            <a14:foregroundMark x1="42826" y1="45000" x2="42826" y2="45000"/>
                            <a14:foregroundMark x1="29348" y1="56413" x2="29348" y2="56413"/>
                            <a14:foregroundMark x1="37283" y1="73913" x2="37283" y2="73913"/>
                            <a14:foregroundMark x1="46630" y1="70870" x2="46630" y2="70870"/>
                            <a14:foregroundMark x1="46087" y1="56413" x2="46087" y2="56413"/>
                            <a14:foregroundMark x1="54022" y1="57500" x2="54022" y2="57500"/>
                            <a14:foregroundMark x1="53696" y1="74457" x2="53696" y2="74457"/>
                            <a14:foregroundMark x1="71630" y1="60761" x2="71630" y2="60761"/>
                            <a14:foregroundMark x1="62283" y1="73696" x2="62283" y2="736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5797" y="5317157"/>
                <a:ext cx="371315" cy="3861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4629313" y="4929543"/>
                <a:ext cx="2964236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+mn-lt"/>
                  </a:rPr>
                  <a:t>@</a:t>
                </a:r>
                <a:r>
                  <a:rPr lang="en-US" sz="1350" dirty="0" err="1">
                    <a:solidFill>
                      <a:prstClr val="black"/>
                    </a:solidFill>
                    <a:latin typeface="+mn-lt"/>
                  </a:rPr>
                  <a:t>ugandachristianuniversity</a:t>
                </a:r>
                <a:endParaRPr lang="en-US" sz="1350" dirty="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570065" y="5343192"/>
                <a:ext cx="2851459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srgbClr val="0000FF"/>
                    </a:solidFill>
                    <a:latin typeface="+mn-lt"/>
                    <a:hlinkClick r:id="rId7"/>
                  </a:rPr>
                  <a:t>https://ucu.ac.ug/</a:t>
                </a:r>
                <a:r>
                  <a:rPr lang="en-GB" sz="1350" dirty="0">
                    <a:solidFill>
                      <a:srgbClr val="0000FF"/>
                    </a:solidFill>
                    <a:latin typeface="+mn-lt"/>
                  </a:rPr>
                  <a:t> </a:t>
                </a:r>
                <a:endParaRPr lang="en-US" sz="135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015811" y="4532448"/>
                <a:ext cx="1781015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UCUniversity</a:t>
                </a:r>
                <a:endParaRPr lang="en-US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535920" y="4545114"/>
                <a:ext cx="3240067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UgandaChristianUniversity</a:t>
                </a:r>
                <a:endParaRPr lang="en-US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201882" y="3514011"/>
                <a:ext cx="3513911" cy="886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sv-SE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P.O. Box 4 Mukono, Uganda</a:t>
                </a:r>
                <a:endParaRPr lang="sv-SE" sz="1400" dirty="0">
                  <a:solidFill>
                    <a:srgbClr val="5B9BD5">
                      <a:lumMod val="50000"/>
                    </a:srgbClr>
                  </a:solidFill>
                  <a:latin typeface="+mn-lt"/>
                </a:endParaRPr>
              </a:p>
              <a:p>
                <a:pPr defTabSz="685800"/>
                <a:r>
                  <a:rPr lang="en-GB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Tel: 256-312-350800</a:t>
                </a:r>
                <a:endParaRPr lang="en-GB" sz="1400" dirty="0">
                  <a:solidFill>
                    <a:srgbClr val="5B9BD5">
                      <a:lumMod val="50000"/>
                    </a:srgbClr>
                  </a:solidFill>
                  <a:latin typeface="+mn-lt"/>
                </a:endParaRPr>
              </a:p>
              <a:p>
                <a:pPr defTabSz="685800"/>
                <a:r>
                  <a:rPr lang="fr-FR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Email: </a:t>
                </a:r>
                <a:r>
                  <a:rPr lang="fr-FR" sz="1400" dirty="0">
                    <a:solidFill>
                      <a:srgbClr val="0000FF"/>
                    </a:solidFill>
                    <a:latin typeface="+mn-lt"/>
                    <a:hlinkClick r:id="rId8"/>
                  </a:rPr>
                  <a:t>info@ucu.ac.ug</a:t>
                </a:r>
                <a:endParaRPr lang="fr-FR" sz="140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173580" y="3135225"/>
                <a:ext cx="4174871" cy="48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2000" b="1" dirty="0">
                    <a:solidFill>
                      <a:srgbClr val="5B9BD5">
                        <a:lumMod val="50000"/>
                      </a:srgbClr>
                    </a:solidFill>
                    <a:latin typeface="+mj-lt"/>
                  </a:rPr>
                  <a:t>Uganda Christian University</a:t>
                </a:r>
                <a:endParaRPr lang="en-US" sz="2000" dirty="0">
                  <a:solidFill>
                    <a:srgbClr val="5B9BD5">
                      <a:lumMod val="50000"/>
                    </a:srgbClr>
                  </a:solidFill>
                  <a:latin typeface="+mj-lt"/>
                </a:endParaRPr>
              </a:p>
            </p:txBody>
          </p:sp>
          <p:pic>
            <p:nvPicPr>
              <p:cNvPr id="16" name="Picture 6" descr="facebook instagram whatsapp PNG image with transparent background | TOPpng"/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921" r="64675" b="31937"/>
              <a:stretch>
                <a:fillRect/>
              </a:stretch>
            </p:blipFill>
            <p:spPr bwMode="auto">
              <a:xfrm>
                <a:off x="7686943" y="4513314"/>
                <a:ext cx="448492" cy="4475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9"/>
            <a:srcRect l="4177" t="16271" r="77310" b="16737"/>
            <a:stretch>
              <a:fillRect/>
            </a:stretch>
          </p:blipFill>
          <p:spPr>
            <a:xfrm>
              <a:off x="3054867" y="3883165"/>
              <a:ext cx="1730515" cy="1908000"/>
            </a:xfrm>
            <a:prstGeom prst="rect">
              <a:avLst/>
            </a:prstGeom>
          </p:spPr>
        </p:pic>
      </p:grpSp>
      <p:pic>
        <p:nvPicPr>
          <p:cNvPr id="21" name="Picture 2" descr="Red button thank you icon Royalty Free Vector Image"/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11" b="86019" l="10000" r="90000">
                        <a14:foregroundMark x1="41000" y1="28981" x2="39100" y2="58519"/>
                        <a14:foregroundMark x1="27700" y1="36296" x2="34800" y2="63981"/>
                        <a14:foregroundMark x1="26600" y1="32500" x2="78400" y2="47685"/>
                        <a14:foregroundMark x1="52100" y1="23981" x2="53500" y2="41389"/>
                        <a14:foregroundMark x1="38900" y1="20463" x2="49000" y2="35556"/>
                        <a14:foregroundMark x1="44200" y1="21481" x2="69600" y2="35370"/>
                        <a14:foregroundMark x1="65200" y1="24722" x2="65200" y2="44444"/>
                        <a14:foregroundMark x1="71900" y1="31852" x2="70200" y2="51389"/>
                        <a14:foregroundMark x1="69200" y1="60463" x2="59800" y2="47500"/>
                        <a14:foregroundMark x1="75300" y1="54259" x2="61100" y2="48333"/>
                        <a14:foregroundMark x1="59800" y1="30370" x2="56700" y2="41389"/>
                        <a14:foregroundMark x1="57500" y1="68426" x2="54000" y2="46759"/>
                        <a14:foregroundMark x1="38300" y1="61667" x2="67900" y2="65926"/>
                        <a14:foregroundMark x1="47100" y1="46019" x2="58300" y2="52593"/>
                        <a14:foregroundMark x1="46500" y1="58148" x2="52700" y2="57963"/>
                        <a14:foregroundMark x1="45400" y1="46204" x2="50600" y2="57407"/>
                        <a14:foregroundMark x1="36200" y1="40370" x2="46700" y2="51389"/>
                        <a14:foregroundMark x1="43100" y1="64167" x2="50600" y2="68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043"/>
          <a:stretch>
            <a:fillRect/>
          </a:stretch>
        </p:blipFill>
        <p:spPr bwMode="auto">
          <a:xfrm>
            <a:off x="4606336" y="1691476"/>
            <a:ext cx="1825644" cy="170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hyperlink" Target="http://www.ucu.ac.ug/" TargetMode="External"/><Relationship Id="rId14" Type="http://schemas.openxmlformats.org/officeDocument/2006/relationships/hyperlink" Target="mailto:info@ucu.ac.ug" TargetMode="External"/><Relationship Id="rId13" Type="http://schemas.openxmlformats.org/officeDocument/2006/relationships/image" Target="../media/image6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791" y="0"/>
            <a:ext cx="2415209" cy="73588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AA9A-AD91-1245-A5C3-6A0CBEF58DBD}" type="slidenum">
              <a:rPr lang="en-GB" smtClean="0"/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D528E-B0C4-574C-AE6E-B35A83CFEB13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3975652" y="6176964"/>
            <a:ext cx="362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50" b="1" dirty="0">
                <a:solidFill>
                  <a:srgbClr val="0B3D91"/>
                </a:solidFill>
              </a:rPr>
              <a:t>A Complete Education for A Complete Person</a:t>
            </a:r>
            <a:endParaRPr lang="en-GB" sz="850" b="1" dirty="0">
              <a:solidFill>
                <a:srgbClr val="0B3D91"/>
              </a:solidFill>
            </a:endParaRPr>
          </a:p>
          <a:p>
            <a:pPr algn="ctr"/>
            <a:br>
              <a:rPr lang="en-GB" sz="700" dirty="0"/>
            </a:br>
            <a:r>
              <a:rPr lang="en-GB" sz="700" dirty="0"/>
              <a:t>P.O. Box 4, </a:t>
            </a:r>
            <a:r>
              <a:rPr lang="en-GB" sz="700" dirty="0" err="1"/>
              <a:t>Mukono</a:t>
            </a:r>
            <a:r>
              <a:rPr lang="en-GB" sz="700" dirty="0"/>
              <a:t>, Uganda, Plot 67-173, Bishop Tucker Road, </a:t>
            </a:r>
            <a:r>
              <a:rPr lang="en-GB" sz="700" dirty="0" err="1"/>
              <a:t>Mukono</a:t>
            </a:r>
            <a:r>
              <a:rPr lang="en-GB" sz="700" dirty="0"/>
              <a:t> Hill</a:t>
            </a:r>
            <a:endParaRPr lang="en-US" sz="700" dirty="0"/>
          </a:p>
          <a:p>
            <a:pPr algn="ctr"/>
            <a:r>
              <a:rPr lang="en-GB" sz="700" dirty="0"/>
              <a:t>Tel: +256 (0) 312 350 800 Email: </a:t>
            </a:r>
            <a:r>
              <a:rPr lang="en-GB" sz="700" u="sng" dirty="0">
                <a:solidFill>
                  <a:srgbClr val="0000FF"/>
                </a:solidFill>
                <a:hlinkClick r:id="rId14"/>
              </a:rPr>
              <a:t>info@ucu.ac.ug</a:t>
            </a:r>
            <a:r>
              <a:rPr lang="en-GB" sz="700" dirty="0">
                <a:solidFill>
                  <a:srgbClr val="0000FF"/>
                </a:solidFill>
              </a:rPr>
              <a:t> </a:t>
            </a:r>
            <a:r>
              <a:rPr lang="en-GB" sz="700" dirty="0"/>
              <a:t>Web: </a:t>
            </a:r>
            <a:r>
              <a:rPr lang="en-GB" sz="700" u="sng" dirty="0">
                <a:solidFill>
                  <a:srgbClr val="0000FF"/>
                </a:solidFill>
              </a:rPr>
              <a:t>https://</a:t>
            </a:r>
            <a:r>
              <a:rPr lang="en-GB" sz="700" u="sng" dirty="0">
                <a:solidFill>
                  <a:srgbClr val="0000FF"/>
                </a:solidFill>
                <a:hlinkClick r:id="rId15"/>
              </a:rPr>
              <a:t>ucu.ac.ug</a:t>
            </a:r>
            <a:endParaRPr lang="en-US" sz="700" u="sng" dirty="0">
              <a:solidFill>
                <a:srgbClr val="0000FF"/>
              </a:solidFill>
            </a:endParaRPr>
          </a:p>
          <a:p>
            <a:pPr algn="ctr"/>
            <a:r>
              <a:rPr lang="en-GB" sz="650" dirty="0"/>
              <a:t>Founded by the Province of the Church of Uganda. Chartered by the Government of Uganda</a:t>
            </a:r>
            <a:endParaRPr lang="en-US" sz="65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95027"/>
            <a:ext cx="12192000" cy="0"/>
          </a:xfrm>
          <a:prstGeom prst="line">
            <a:avLst/>
          </a:prstGeom>
          <a:ln w="12700">
            <a:solidFill>
              <a:srgbClr val="D701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97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7014D"/>
        </a:buClr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B3D91"/>
        </a:buClr>
        <a:buSzPct val="9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9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88000"/>
        <a:buFont typeface="Wingdings" panose="05000000000000000000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931"/>
        </a:buClr>
        <a:buSzPct val="86000"/>
        <a:buFont typeface="Wingdings" panose="05000000000000000000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05305"/>
            <a:ext cx="9144000" cy="3002915"/>
          </a:xfrm>
        </p:spPr>
        <p:txBody>
          <a:bodyPr>
            <a:normAutofit/>
          </a:bodyPr>
          <a:lstStyle/>
          <a:p>
            <a:r>
              <a:rPr lang="en-US" altLang="en-GB" sz="4000" dirty="0"/>
              <a:t>Machine learning system to flag which patients with a high risk of a stroke, so they can be proactively enrolled in the chronic clinic</a:t>
            </a:r>
            <a:endParaRPr lang="en-US" alt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90465"/>
            <a:ext cx="9144000" cy="895985"/>
          </a:xfrm>
        </p:spPr>
        <p:txBody>
          <a:bodyPr>
            <a:normAutofit lnSpcReduction="10000"/>
          </a:bodyPr>
          <a:lstStyle/>
          <a:p>
            <a:r>
              <a:rPr lang="en-US" altLang="en-GB" dirty="0"/>
              <a:t>Mirembe Peace Mercy</a:t>
            </a:r>
            <a:r>
              <a:rPr lang="en-GB" dirty="0"/>
              <a:t> / </a:t>
            </a:r>
            <a:r>
              <a:rPr lang="en-US" altLang="en-GB" dirty="0"/>
              <a:t>M24B23/005</a:t>
            </a:r>
            <a:r>
              <a:rPr lang="en-GB" dirty="0"/>
              <a:t> / </a:t>
            </a:r>
            <a:r>
              <a:rPr lang="en-US" altLang="en-GB" dirty="0"/>
              <a:t>B27499</a:t>
            </a:r>
            <a:endParaRPr lang="en-US" altLang="en-GB" dirty="0"/>
          </a:p>
          <a:p>
            <a:r>
              <a:rPr lang="en-US" altLang="en-GB" dirty="0"/>
              <a:t>Norah Angel Nakaye / M24B23/008 / B27502</a:t>
            </a:r>
            <a:endParaRPr lang="en-US" alt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Presentation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Wingdings</vt:lpstr>
      <vt:lpstr>Trebuchet MS</vt:lpstr>
      <vt:lpstr>Microsoft YaHei</vt:lpstr>
      <vt:lpstr>Arial Unicode MS</vt:lpstr>
      <vt:lpstr>Calibri</vt:lpstr>
      <vt:lpstr>1_Office Theme</vt:lpstr>
      <vt:lpstr>Machine learning system to flag which patients with a high risk of a stroke, so they can be proactively enrolled in the chronic clinic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paper</dc:title>
  <dc:creator>stephen kalyesubula</dc:creator>
  <cp:lastModifiedBy>Mercy Peace</cp:lastModifiedBy>
  <cp:revision>55</cp:revision>
  <dcterms:created xsi:type="dcterms:W3CDTF">2026-08-29T19:30:00Z</dcterms:created>
  <dcterms:modified xsi:type="dcterms:W3CDTF">2026-10-04T02:12:56Z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0D9B6753BC2041C6A3A26955495CF58D_13</vt:lpwstr>
  </property>
  <property fmtid="{D5CDD505-2E9C-101B-9397-08002B2CF9AE}" pid="3" name="KSOProductBuildVer">
    <vt:lpwstr>2057-12.2.0.23206</vt:lpwstr>
  </property>
</Properties>
</file>