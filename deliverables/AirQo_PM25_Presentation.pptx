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4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Test RMSE (µg/m³) — lower is better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(µg/m³)</c:v>
                </c:pt>
              </c:strCache>
            </c:strRef>
          </c:tx>
          <c:dPt>
            <c:idx val="0"/>
            <c:spPr>
              <a:solidFill>
                <a:srgbClr val="0B3D91"/>
              </a:solidFill>
            </c:spPr>
          </c:dPt>
          <c:dPt>
            <c:idx val="1"/>
            <c:spPr>
              <a:solidFill>
                <a:srgbClr val="8FB3E0"/>
              </a:solidFill>
            </c:spPr>
          </c:dPt>
          <c:dPt>
            <c:idx val="2"/>
            <c:spPr>
              <a:solidFill>
                <a:srgbClr val="8FB3E0"/>
              </a:solidFill>
            </c:spPr>
          </c:dPt>
          <c:dPt>
            <c:idx val="3"/>
            <c:spPr>
              <a:solidFill>
                <a:srgbClr val="8FB3E0"/>
              </a:solidFill>
            </c:spPr>
          </c:dPt>
          <c:dPt>
            <c:idx val="4"/>
            <c:spPr>
              <a:solidFill>
                <a:srgbClr val="8FB3E0"/>
              </a:solidFill>
            </c:spPr>
          </c:dPt>
          <c:dPt>
            <c:idx val="5"/>
            <c:spPr>
              <a:solidFill>
                <a:srgbClr val="8FB3E0"/>
              </a:solidFill>
            </c:spPr>
          </c:dPt>
          <c:dPt>
            <c:idx val="6"/>
            <c:spPr>
              <a:solidFill>
                <a:srgbClr val="BFBFBF"/>
              </a:solidFill>
            </c:spPr>
          </c:dPt>
          <c:dPt>
            <c:idx val="7"/>
            <c:spPr>
              <a:solidFill>
                <a:srgbClr val="BFBFBF"/>
              </a:solidFill>
            </c:spPr>
          </c:dPt>
          <c:cat>
            <c:strRef>
              <c:f>Sheet1!$A$2:$A$9</c:f>
              <c:strCache>
                <c:ptCount val="8"/>
                <c:pt idx="0">
                  <c:v>XGBoost</c:v>
                </c:pt>
                <c:pt idx="1">
                  <c:v>Stacking Ensemble</c:v>
                </c:pt>
                <c:pt idx="2">
                  <c:v>Random Forest</c:v>
                </c:pt>
                <c:pt idx="3">
                  <c:v>KNN</c:v>
                </c:pt>
                <c:pt idx="4">
                  <c:v>Ridge</c:v>
                </c:pt>
                <c:pt idx="5">
                  <c:v>SVR</c:v>
                </c:pt>
                <c:pt idx="6">
                  <c:v>Base: sensor mean</c:v>
                </c:pt>
                <c:pt idx="7">
                  <c:v>Base: global mean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20.0</c:v>
                </c:pt>
                <c:pt idx="1">
                  <c:v>20.0</c:v>
                </c:pt>
                <c:pt idx="2">
                  <c:v>20.1</c:v>
                </c:pt>
                <c:pt idx="3">
                  <c:v>20.8</c:v>
                </c:pt>
                <c:pt idx="4">
                  <c:v>20.8</c:v>
                </c:pt>
                <c:pt idx="5">
                  <c:v>21.6</c:v>
                </c:pt>
                <c:pt idx="6">
                  <c:v>23.9</c:v>
                </c:pt>
                <c:pt idx="7">
                  <c:v>24.1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complete pipeline that turns raw AirQo low-cost sensor readings into a trained, evaluated, monitored and deployable PM2.5 forecasting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PM2.5 penetrates deep into the lungs and bloodstream. Kampala's annual mean is about eight times the WHO guideline. Forecasts let the health sector, NEMA, the Ministry of Energy and Works &amp; Transport act before bad-air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stage feeds the next; every heavy step is wrapped in try/except so the pipeline never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Although labelled Jan–Jul, the file holds only 1–3 Jan, 1–2 Apr and 1–3 Jun. After resampling to a full hourly grid only 1.9% of sensor-hours are observed. Zeros in temp/humidity/coords are nulls per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Junninen et al. (2004): linear interpolation is best for short gaps; long gaps should not be filled. AirQo papers (Okure 2022, Adong 2022) and Barkjohn 2021 guide validity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PM10 is excluded: it's co-measured (leakage), unknown at forecast time, and driven by dust rather than temperature/humidity.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Kampala sensors: Nansana, Nakasero II, Lower Nsooba, Civic Centre, Salama Road. Skewness ≈ 2.1. Outliers flagged but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January is far dirtier (Unhealthy to Very Unhealthy) than April and June (mostly Moderate). Morning and evening peaks are visible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days are offline/no data — the calendar makes the three observation windows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= 0 is the network-average hour; z = +1 one standard deviation dirtier. The USG threshold (35.49) sits at z ≈ 0.1, so above-average already means unhealthy for sensitive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RandomizedSearchCV with GroupKFold by calendar day (blocked CV). TimeSeriesSplit was rejected because early folds trained only on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RMSE is the primary metric because big misses on pollution spikes are the costly errors. All models beat both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RMSE 20.0 µg/m³, MAE 12.3, R² 0.22. Residuals are centred near zero but the model under-predicts the largest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pm2.5 = z × σ + μ. Daily forecasts are near-constant because August weather is climatological; the hourly forecast shows the morning and evening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Earth shapefiles. At midday the boundary layer is deep, so only 2 of 149 sensors are forecast in the USG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Wasserstein distance &gt; 0.1 or Jensen-Shannon &gt; 0.1 marks drift. Temperature and humidity drift is seasonal; target drift means the pollution regime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Debugged locally first (full run ≈ 4 min on 4 CPUs). On the pod, run deployment/run_on_runpod.sh; it logs GPU, pod ID, stage timings and metrics. Terminate the pod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the data limitation: seven days of history caps what any model can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image5.wdp"/><Relationship Id="rId7" Type="http://schemas.openxmlformats.org/officeDocument/2006/relationships/hyperlink" Target="https://ucu.ac.ug/" TargetMode="External"/><Relationship Id="rId8" Type="http://schemas.openxmlformats.org/officeDocument/2006/relationships/hyperlink" Target="mailto:info@ucu.ac.ug" TargetMode="External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microsoft.com/office/2007/relationships/hdphoto" Target="../media/image8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69732" l="0" r="98929">
                            <a14:foregroundMark x1="9524" y1="3376" x2="23929" y2="25378"/>
                            <a14:foregroundMark x1="15833" y1="5122" x2="19643" y2="5122"/>
                            <a14:foregroundMark x1="22381" y1="8149" x2="24762" y2="21187"/>
                            <a14:foregroundMark x1="10119" y1="11409" x2="14643" y2="23632"/>
                            <a14:foregroundMark x1="7738" y1="14435" x2="11071" y2="24796"/>
                            <a14:foregroundMark x1="75000" y1="9662" x2="75833" y2="23865"/>
                            <a14:foregroundMark x1="76548" y1="7800" x2="89643" y2="8964"/>
                            <a14:foregroundMark x1="82976" y1="2328" x2="91786" y2="20722"/>
                            <a14:foregroundMark x1="78452" y1="21769" x2="87024" y2="20605"/>
                            <a14:foregroundMark x1="83333" y1="14668" x2="83333" y2="14668"/>
                            <a14:foregroundMark x1="90357" y1="9895" x2="91190" y2="17695"/>
                            <a14:foregroundMark x1="17500" y1="9546" x2="17738" y2="17346"/>
                            <a14:foregroundMark x1="23929" y1="3609" x2="23333" y2="101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6494" b="67238"/>
              <a:stretch>
                <a:fillRect/>
              </a:stretch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facebook instagram whatsapp PNG image with transparent background | TOP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402" b="69905"/>
              <a:stretch>
                <a:fillRect/>
              </a:stretch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 descr="Round black telephone logo, Telephone Icon, Phone File, electronics, logo,  black And White png | PNGWin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7935" l="1522" r="100000">
                            <a14:foregroundMark x1="32717" y1="37283" x2="32717" y2="37283"/>
                            <a14:foregroundMark x1="36957" y1="24565" x2="36957" y2="24565"/>
                            <a14:foregroundMark x1="46304" y1="30435" x2="46304" y2="30435"/>
                            <a14:foregroundMark x1="55435" y1="30326" x2="55435" y2="30326"/>
                            <a14:foregroundMark x1="65870" y1="27826" x2="65870" y2="27826"/>
                            <a14:foregroundMark x1="73152" y1="43478" x2="73152" y2="43478"/>
                            <a14:foregroundMark x1="57500" y1="44783" x2="57500" y2="44783"/>
                            <a14:foregroundMark x1="42826" y1="45000" x2="42826" y2="45000"/>
                            <a14:foregroundMark x1="29348" y1="56413" x2="29348" y2="56413"/>
                            <a14:foregroundMark x1="37283" y1="73913" x2="37283" y2="73913"/>
                            <a14:foregroundMark x1="46630" y1="70870" x2="46630" y2="70870"/>
                            <a14:foregroundMark x1="46087" y1="56413" x2="46087" y2="56413"/>
                            <a14:foregroundMark x1="54022" y1="57500" x2="54022" y2="57500"/>
                            <a14:foregroundMark x1="53696" y1="74457" x2="53696" y2="74457"/>
                            <a14:foregroundMark x1="71630" y1="60761" x2="71630" y2="60761"/>
                            <a14:foregroundMark x1="62283" y1="73696" x2="62283" y2="736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+mn-lt"/>
                  </a:rPr>
                  <a:t>@</a:t>
                </a:r>
                <a:r>
                  <a:rPr lang="en-US" sz="1350" dirty="0" err="1">
                    <a:solidFill>
                      <a:prstClr val="black"/>
                    </a:solidFill>
                    <a:latin typeface="+mn-lt"/>
                  </a:rPr>
                  <a:t>ugandachristianuniversity</a:t>
                </a:r>
                <a:endParaRPr lang="en-US" sz="1350" dirty="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srgbClr val="0000FF"/>
                    </a:solidFill>
                    <a:latin typeface="+mn-lt"/>
                    <a:hlinkClick r:id="rId7"/>
                  </a:rPr>
                  <a:t>https://ucu.ac.ug/</a:t>
                </a:r>
                <a:r>
                  <a:rPr lang="en-GB" sz="135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endParaRPr lang="en-US" sz="135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UCUniversity</a:t>
                </a:r>
                <a:endParaRPr lang="en-US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UgandaChristianUniversity</a:t>
                </a:r>
                <a:endParaRPr lang="en-US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sv-SE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P.O. Box 4 Mukono, Uganda</a:t>
                </a:r>
                <a:endParaRPr lang="sv-SE" sz="1400" dirty="0">
                  <a:solidFill>
                    <a:srgbClr val="5B9BD5">
                      <a:lumMod val="50000"/>
                    </a:srgbClr>
                  </a:solidFill>
                  <a:latin typeface="+mn-lt"/>
                </a:endParaRPr>
              </a:p>
              <a:p>
                <a:pPr defTabSz="685800"/>
                <a:r>
                  <a:rPr lang="en-GB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Tel: 256-312-350800</a:t>
                </a:r>
                <a:endParaRPr lang="en-GB" sz="1400" dirty="0">
                  <a:solidFill>
                    <a:srgbClr val="5B9BD5">
                      <a:lumMod val="50000"/>
                    </a:srgbClr>
                  </a:solidFill>
                  <a:latin typeface="+mn-lt"/>
                </a:endParaRPr>
              </a:p>
              <a:p>
                <a:pPr defTabSz="685800"/>
                <a:r>
                  <a:rPr lang="fr-FR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Email: </a:t>
                </a:r>
                <a:r>
                  <a:rPr lang="fr-FR" sz="1400" dirty="0">
                    <a:solidFill>
                      <a:srgbClr val="0000FF"/>
                    </a:solidFill>
                    <a:latin typeface="+mn-lt"/>
                    <a:hlinkClick r:id="rId8"/>
                  </a:rPr>
                  <a:t>info@ucu.ac.ug</a:t>
                </a:r>
                <a:endParaRPr lang="fr-FR" sz="140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2000" b="1" dirty="0">
                    <a:solidFill>
                      <a:srgbClr val="5B9BD5">
                        <a:lumMod val="50000"/>
                      </a:srgbClr>
                    </a:solidFill>
                    <a:latin typeface="+mj-lt"/>
                  </a:rPr>
                  <a:t>Uganda Christian University</a:t>
                </a:r>
                <a:endParaRPr lang="en-US" sz="2000" dirty="0">
                  <a:solidFill>
                    <a:srgbClr val="5B9BD5">
                      <a:lumMod val="50000"/>
                    </a:srgbClr>
                  </a:solidFill>
                  <a:latin typeface="+mj-lt"/>
                </a:endParaRPr>
              </a:p>
            </p:txBody>
          </p:sp>
          <p:pic>
            <p:nvPicPr>
              <p:cNvPr id="16" name="Picture 6" descr="facebook instagram whatsapp PNG image with transparent background | TOPpng"/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921" r="64675" b="31937"/>
              <a:stretch>
                <a:fillRect/>
              </a:stretch>
            </p:blipFill>
            <p:spPr bwMode="auto">
              <a:xfrm>
                <a:off x="7686943" y="4513314"/>
                <a:ext cx="448492" cy="447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9"/>
            <a:srcRect l="4177" t="16271" r="77310" b="16737"/>
            <a:stretch>
              <a:fillRect/>
            </a:stretch>
          </p:blipFill>
          <p:spPr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21" name="Picture 2" descr="Red button thank you icon Royalty Free Vector Image"/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11" b="86019" l="10000" r="90000">
                        <a14:foregroundMark x1="41000" y1="28981" x2="39100" y2="58519"/>
                        <a14:foregroundMark x1="27700" y1="36296" x2="34800" y2="63981"/>
                        <a14:foregroundMark x1="26600" y1="32500" x2="78400" y2="47685"/>
                        <a14:foregroundMark x1="52100" y1="23981" x2="53500" y2="41389"/>
                        <a14:foregroundMark x1="38900" y1="20463" x2="49000" y2="35556"/>
                        <a14:foregroundMark x1="44200" y1="21481" x2="69600" y2="35370"/>
                        <a14:foregroundMark x1="65200" y1="24722" x2="65200" y2="44444"/>
                        <a14:foregroundMark x1="71900" y1="31852" x2="70200" y2="51389"/>
                        <a14:foregroundMark x1="69200" y1="60463" x2="59800" y2="47500"/>
                        <a14:foregroundMark x1="75300" y1="54259" x2="61100" y2="48333"/>
                        <a14:foregroundMark x1="59800" y1="30370" x2="56700" y2="41389"/>
                        <a14:foregroundMark x1="57500" y1="68426" x2="54000" y2="46759"/>
                        <a14:foregroundMark x1="38300" y1="61667" x2="67900" y2="65926"/>
                        <a14:foregroundMark x1="47100" y1="46019" x2="58300" y2="52593"/>
                        <a14:foregroundMark x1="46500" y1="58148" x2="52700" y2="57963"/>
                        <a14:foregroundMark x1="45400" y1="46204" x2="50600" y2="57407"/>
                        <a14:foregroundMark x1="36200" y1="40370" x2="46700" y2="51389"/>
                        <a14:foregroundMark x1="43100" y1="64167" x2="50600" y2="68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043"/>
          <a:stretch>
            <a:fillRect/>
          </a:stretch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6.png"/><Relationship Id="rId14" Type="http://schemas.openxmlformats.org/officeDocument/2006/relationships/hyperlink" Target="mailto:info@ucu.ac.ug" TargetMode="External"/><Relationship Id="rId15" Type="http://schemas.openxmlformats.org/officeDocument/2006/relationships/hyperlink" Target="http://www.ucu.ac.ug/" TargetMode="Externa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AA9A-AD91-1245-A5C3-6A0CBEF58DBD}" type="slidenum">
              <a:rPr lang="en-GB" smtClean="0"/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528E-B0C4-574C-AE6E-B35A83CFEB13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50" b="1" dirty="0">
                <a:solidFill>
                  <a:srgbClr val="0B3D91"/>
                </a:solidFill>
              </a:rPr>
              <a:t>A Complete Education for A Complete Person</a:t>
            </a:r>
            <a:endParaRPr lang="en-GB" sz="850" b="1" dirty="0">
              <a:solidFill>
                <a:srgbClr val="0B3D91"/>
              </a:solidFill>
            </a:endParaRPr>
          </a:p>
          <a:p>
            <a:pPr algn="ctr"/>
            <a:br>
              <a:rPr lang="en-GB" sz="700" dirty="0"/>
            </a:br>
            <a:r>
              <a:rPr lang="en-GB" sz="700" dirty="0"/>
              <a:t>P.O. Box 4, </a:t>
            </a:r>
            <a:r>
              <a:rPr lang="en-GB" sz="700" dirty="0" err="1"/>
              <a:t>Mukono</a:t>
            </a:r>
            <a:r>
              <a:rPr lang="en-GB" sz="700" dirty="0"/>
              <a:t>, Uganda, Plot 67-173, Bishop Tucker Road, </a:t>
            </a:r>
            <a:r>
              <a:rPr lang="en-GB" sz="700" dirty="0" err="1"/>
              <a:t>Mukono</a:t>
            </a:r>
            <a:r>
              <a:rPr lang="en-GB" sz="700" dirty="0"/>
              <a:t> Hill</a:t>
            </a:r>
            <a:endParaRPr lang="en-US" sz="700" dirty="0"/>
          </a:p>
          <a:p>
            <a:pPr algn="ctr"/>
            <a:r>
              <a:rPr lang="en-GB" sz="700" dirty="0"/>
              <a:t>Tel: +256 (0) 312 350 800 Email: </a:t>
            </a:r>
            <a:r>
              <a:rPr lang="en-GB" sz="700" u="sng" dirty="0">
                <a:solidFill>
                  <a:srgbClr val="0000FF"/>
                </a:solidFill>
                <a:hlinkClick r:id="rId14"/>
              </a:rPr>
              <a:t>info@ucu.ac.ug</a:t>
            </a:r>
            <a:r>
              <a:rPr lang="en-GB" sz="700" dirty="0">
                <a:solidFill>
                  <a:srgbClr val="0000FF"/>
                </a:solidFill>
              </a:rPr>
              <a:t> </a:t>
            </a:r>
            <a:r>
              <a:rPr lang="en-GB" sz="700" dirty="0"/>
              <a:t>Web: </a:t>
            </a:r>
            <a:r>
              <a:rPr lang="en-GB" sz="700" u="sng" dirty="0">
                <a:solidFill>
                  <a:srgbClr val="0000FF"/>
                </a:solidFill>
              </a:rPr>
              <a:t>https://</a:t>
            </a:r>
            <a:r>
              <a:rPr lang="en-GB" sz="700" u="sng" dirty="0">
                <a:solidFill>
                  <a:srgbClr val="0000FF"/>
                </a:solidFill>
                <a:hlinkClick r:id="rId15"/>
              </a:rPr>
              <a:t>ucu.ac.ug</a:t>
            </a:r>
            <a:endParaRPr lang="en-US" sz="700" u="sng" dirty="0">
              <a:solidFill>
                <a:srgbClr val="0000FF"/>
              </a:solidFill>
            </a:endParaRPr>
          </a:p>
          <a:p>
            <a:pPr algn="ctr"/>
            <a:r>
              <a:rPr lang="en-GB" sz="650" dirty="0"/>
              <a:t>Founded by the Province of the Church of Uganda. Chartered by the Government of Uganda</a:t>
            </a:r>
            <a:endParaRPr lang="en-US" sz="65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7014D"/>
        </a:buClr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 panose="05000000000000000000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 panose="05000000000000000000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497D"/>
                </a:solidFill>
              </a:rPr>
              <a:t>Predicting PM2.5 Air Quality from AirQo Sensor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D7014D"/>
                </a:solidFill>
              </a:rPr>
              <a:t>CSC3119 AI Deployment &amp; Scalability · Assignment 4</a:t>
            </a:r>
          </a:p>
          <a:p>
            <a:r>
              <a:rPr sz="1800" b="0">
                <a:solidFill>
                  <a:srgbClr val="222222"/>
                </a:solidFill>
              </a:rPr>
              <a:t>Mirembe Peace Mercy / M24B23/005 / B27499</a:t>
            </a:r>
          </a:p>
          <a:p>
            <a:r>
              <a:rPr sz="1800" b="0">
                <a:solidFill>
                  <a:srgbClr val="222222"/>
                </a:solidFill>
              </a:rPr>
              <a:t>Norah Angel Nakaye / M24B23/008 / B27502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Why forecast PM2.5 in Uganda?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75688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D7014D"/>
                </a:solidFill>
              </a:rPr>
              <a:t>39 µg/m³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88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Kampala annual mean PM2.5 (2018–21), ≈ 8× WHO guideline of 5 µg/m³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19659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2075688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D7014D"/>
                </a:solidFill>
              </a:rPr>
              <a:t>7,257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2788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deaths in Kampala attributed to long-term PM2.5 exposure (2018–21)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9659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075688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B3D91"/>
                </a:solidFill>
              </a:rPr>
              <a:t>149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7889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AirQo sensors in this dataset · 14,600 hourly rows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0332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</a:rPr>
              <a:t>Objective  </a:t>
            </a:r>
            <a:r>
              <a:rPr sz="1400" b="0" i="0">
                <a:solidFill>
                  <a:srgbClr val="222222"/>
                </a:solidFill>
              </a:rPr>
              <a:t>Build a deployable pipeline that predicts hourly PM2.5 (as a Z-score) from sensor, time and weather data, and forecasts August 2026.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</a:rPr>
              <a:t>Who uses it  </a:t>
            </a:r>
            <a:r>
              <a:rPr sz="1400" b="0" i="0">
                <a:solidFill>
                  <a:srgbClr val="222222"/>
                </a:solidFill>
              </a:rPr>
              <a:t>Health sector (early warning), NEMA (enforcement), Ministry of Energy (clean cooking), Works &amp; Transport (traffic).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70332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</a:rPr>
              <a:t>Deliverables  </a:t>
            </a:r>
            <a:r>
              <a:rPr sz="1400" b="0" i="0">
                <a:solidFill>
                  <a:srgbClr val="222222"/>
                </a:solidFill>
              </a:rPr>
              <a:t>cleaned data → EDA → 5 tuned models + ensemble → saved model → August forecasts → Evidently monitoring → RunPod run.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</a:rPr>
              <a:t>AQI bands used throughout  </a:t>
            </a:r>
            <a:r>
              <a:rPr sz="1400" b="0" i="0">
                <a:solidFill>
                  <a:srgbClr val="222222"/>
                </a:solidFill>
              </a:rPr>
              <a:t>Good ≤ 9 · Moderate ≤ 35.49 · USG ≤ 55.49 · Unhealthy ≤ 125.49 · Very Unhealthy ≤ 225.49 · Hazardous above.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Methodology pipeline</a:t>
            </a:r>
          </a:p>
        </p:txBody>
      </p:sp>
      <p:pic>
        <p:nvPicPr>
          <p:cNvPr id="3" name="Picture 2" descr="00_pipelin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05594"/>
            <a:ext cx="10515600" cy="3944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The data: 3 short windows, many nulls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75688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B3D91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8892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observation windows (1–3 Jan, 1–2 Apr, 1–3 Jun)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8728" y="19659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168" y="2075688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0B3D91"/>
                </a:solidFill>
              </a:rPr>
              <a:t>758,112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278892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rows in the full hourly grid (149 sensors × 5,088 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659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2075688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D7014D"/>
                </a:solidFill>
              </a:rPr>
              <a:t>1.9%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78892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of grid hours have a valid PM2.5 reading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6596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28" y="2075688"/>
            <a:ext cx="224027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D7014D"/>
                </a:solidFill>
              </a:rPr>
              <a:t>28–30%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788920"/>
            <a:ext cx="22402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of temperature / humidity values are 0 (= null)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41248" y="3657600"/>
          <a:ext cx="56692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Empty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Zero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% null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latitude / longitude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3,085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temperature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4,066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humidity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206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4,159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PM2.5 calibrated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site_id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7,508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51%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76288" y="3657600"/>
            <a:ext cx="44805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PM2.5 maximum of 998 µg/m³ → sensor saturation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frequency is constant; site_id duplicates site_name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GPS jitters up to 119 positions per fixed device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6 devices never report a valid GPS fix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Data preparation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920240"/>
          <a:ext cx="10515600" cy="3867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017520"/>
                <a:gridCol w="4206240"/>
              </a:tblGrid>
              <a:tr h="4297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 or empty in temp, RH, PM, lat, lon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→ NaN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Brief: 0 is a placeholder, not a measurement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PM2.5 &gt; 500 µg/m³ (3 rows)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→ NaN, logged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Beyond low-cost sensor range (Barkjohn et al., 2021)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Per-sensor IQR outliers (650 rows)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Flag &amp; keep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Real rush-hour / inversion episodes, not errors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Gap ≤ 3 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Linear time interpolation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Accurate for short gaps (Junninen et al., 2004)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Gap &gt; 3 h (device offline)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Keep NaN + is_observed = 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Never fabricate labels for long outages (Okure et al., 2022)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Missing temp / RH at observed hour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IDW of 3 nearest sensors → hour median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Weather is spatially smooth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Missing coordinates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Device median; gazetteer for 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Fixed installations; GPS noise averaged out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Hourly resampling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Full grid 1 Jan – 31 Jul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Offline hours missing, not absent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Feature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5074920" cy="4069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205740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3D91"/>
                </a:solidFill>
              </a:rPr>
              <a:t>Used (9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560320"/>
            <a:ext cx="466344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Hour of day (sin/cos)</a:t>
            </a:r>
            <a:r>
              <a:rPr sz="1400" b="0" i="0">
                <a:solidFill>
                  <a:srgbClr val="222222"/>
                </a:solidFill>
              </a:rPr>
              <a:t> – diurnal traffic, cooking, inversions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Temperature, humidity</a:t>
            </a:r>
            <a:r>
              <a:rPr sz="1400" b="0" i="0">
                <a:solidFill>
                  <a:srgbClr val="222222"/>
                </a:solidFill>
              </a:rPr>
              <a:t> – boundary layer &amp; particle growth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Latitude, longitude</a:t>
            </a:r>
            <a:r>
              <a:rPr sz="1400" b="0" i="0">
                <a:solidFill>
                  <a:srgbClr val="222222"/>
                </a:solidFill>
              </a:rPr>
              <a:t> – city centre vs suburbs vs towns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Peak dry season flag</a:t>
            </a:r>
            <a:r>
              <a:rPr sz="1400" b="0" i="0">
                <a:solidFill>
                  <a:srgbClr val="222222"/>
                </a:solidFill>
              </a:rPr>
              <a:t> – Jan ≈ 2× Apr/Jun levels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Device level</a:t>
            </a:r>
            <a:r>
              <a:rPr sz="1400" b="0" i="0">
                <a:solidFill>
                  <a:srgbClr val="222222"/>
                </a:solidFill>
              </a:rPr>
              <a:t> – season-adjusted site encoding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Network</a:t>
            </a:r>
            <a:r>
              <a:rPr sz="1400" b="0" i="0">
                <a:solidFill>
                  <a:srgbClr val="222222"/>
                </a:solidFill>
              </a:rPr>
              <a:t> – AirQo vs AirGradient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965960"/>
            <a:ext cx="5074920" cy="4069080"/>
          </a:xfrm>
          <a:prstGeom prst="roundRect">
            <a:avLst>
              <a:gd name="adj" fmla="val 8000"/>
            </a:avLst>
          </a:prstGeom>
          <a:solidFill>
            <a:srgbClr val="FB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7014D"/>
                </a:solidFill>
              </a:rPr>
              <a:t>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560320"/>
            <a:ext cx="466344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PM10</a:t>
            </a:r>
            <a:r>
              <a:rPr sz="1400" b="0" i="0">
                <a:solidFill>
                  <a:srgbClr val="222222"/>
                </a:solidFill>
              </a:rPr>
              <a:t> – same-sensor leakage; unavailable in a forecast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site_name, site_id</a:t>
            </a:r>
            <a:r>
              <a:rPr sz="1400" b="0" i="0">
                <a:solidFill>
                  <a:srgbClr val="222222"/>
                </a:solidFill>
              </a:rPr>
              <a:t> – identifiers, covered by device level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frequency</a:t>
            </a:r>
            <a:r>
              <a:rPr sz="1400" b="0" i="0">
                <a:solidFill>
                  <a:srgbClr val="222222"/>
                </a:solidFill>
              </a:rPr>
              <a:t> – constant ('hourly')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Day of week</a:t>
            </a:r>
            <a:r>
              <a:rPr sz="1400" b="0" i="0">
                <a:solidFill>
                  <a:srgbClr val="222222"/>
                </a:solidFill>
              </a:rPr>
              <a:t> – only Mon–Fri observed; unlearnable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Target</a:t>
            </a:r>
            <a:r>
              <a:rPr sz="1400" b="0" i="0">
                <a:solidFill>
                  <a:srgbClr val="222222"/>
                </a:solidFill>
              </a:rPr>
              <a:t> – PM2.5 Z-score, z = (x − μ)/σ with μ = 34.2, σ = 28.4 µg/m³ (train set)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EDA: distributions and outliers</a:t>
            </a:r>
          </a:p>
        </p:txBody>
      </p:sp>
      <p:pic>
        <p:nvPicPr>
          <p:cNvPr id="3" name="Picture 2" descr="03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637" y="1828800"/>
            <a:ext cx="7156821" cy="2148839"/>
          </a:xfrm>
          <a:prstGeom prst="rect">
            <a:avLst/>
          </a:prstGeom>
        </p:spPr>
      </p:pic>
      <p:pic>
        <p:nvPicPr>
          <p:cNvPr id="4" name="Picture 3" descr="03c_boxpl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282" y="3977639"/>
            <a:ext cx="751353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EDA: hourly PM2.5 vs AQI bands</a:t>
            </a:r>
          </a:p>
        </p:txBody>
      </p:sp>
      <p:pic>
        <p:nvPicPr>
          <p:cNvPr id="3" name="Picture 2" descr="03d_timeseries_a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40412"/>
            <a:ext cx="7498079" cy="3228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22208" y="2011680"/>
            <a:ext cx="283464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D7014D"/>
                </a:solidFill>
              </a:rPr>
              <a:t>January </a:t>
            </a:r>
            <a:r>
              <a:rPr sz="1400" b="0" i="0">
                <a:solidFill>
                  <a:srgbClr val="222222"/>
                </a:solidFill>
              </a:rPr>
              <a:t>(peak dry season) daily means 44–55 µg/m³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0B3D91"/>
                </a:solidFill>
              </a:rPr>
              <a:t>April &amp; June </a:t>
            </a:r>
            <a:r>
              <a:rPr sz="1400" b="0" i="0">
                <a:solidFill>
                  <a:srgbClr val="222222"/>
                </a:solidFill>
              </a:rPr>
              <a:t>≈ 21–28 µg/m³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Salama Road </a:t>
            </a:r>
            <a:r>
              <a:rPr sz="1400" b="0" i="0">
                <a:solidFill>
                  <a:srgbClr val="222222"/>
                </a:solidFill>
              </a:rPr>
              <a:t>and Civic Centre are the worst sites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Peaks </a:t>
            </a:r>
            <a:r>
              <a:rPr sz="1400" b="0" i="0">
                <a:solidFill>
                  <a:srgbClr val="222222"/>
                </a:solidFill>
              </a:rPr>
              <a:t>06:00–09:00 and 19:00–23:00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EDA: AQI calendar, Jan–Jul 2026</a:t>
            </a:r>
          </a:p>
        </p:txBody>
      </p:sp>
      <p:pic>
        <p:nvPicPr>
          <p:cNvPr id="3" name="Picture 2" descr="03f2_calendar_observed_mon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108" y="1783080"/>
            <a:ext cx="2884438" cy="4343400"/>
          </a:xfrm>
          <a:prstGeom prst="rect">
            <a:avLst/>
          </a:prstGeom>
        </p:spPr>
      </p:pic>
      <p:pic>
        <p:nvPicPr>
          <p:cNvPr id="4" name="Picture 3" descr="03g_aqi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286406"/>
            <a:ext cx="4572000" cy="14622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76288" y="4251960"/>
            <a:ext cx="44805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Only 0–9% of hours are Good at any site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Salama Road: ~49% of hours Unhealthy or worse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Nansana (peri-urban): 79% Moderate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Z-scores and the weather link</a:t>
            </a:r>
          </a:p>
        </p:txBody>
      </p:sp>
      <p:pic>
        <p:nvPicPr>
          <p:cNvPr id="3" name="Picture 2" descr="03h_z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12790"/>
            <a:ext cx="5486400" cy="1735139"/>
          </a:xfrm>
          <a:prstGeom prst="rect">
            <a:avLst/>
          </a:prstGeom>
        </p:spPr>
      </p:pic>
      <p:pic>
        <p:nvPicPr>
          <p:cNvPr id="4" name="Picture 3" descr="03i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63530"/>
            <a:ext cx="5486400" cy="14227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1968" y="1920240"/>
            <a:ext cx="475488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0B3D91"/>
                </a:solidFill>
              </a:rPr>
              <a:t>Z-score </a:t>
            </a:r>
            <a:r>
              <a:rPr sz="1400" b="0" i="0">
                <a:solidFill>
                  <a:srgbClr val="222222"/>
                </a:solidFill>
              </a:rPr>
              <a:t>re-centres and re-scales but keeps the skew: lowest z ≈ −1.0, spikes reach about +14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4.7% </a:t>
            </a:r>
            <a:r>
              <a:rPr sz="1400" b="0" i="0">
                <a:solidFill>
                  <a:srgbClr val="222222"/>
                </a:solidFill>
              </a:rPr>
              <a:t>of hours have |z| &gt; 2; 1.5% have |z| &gt; 3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0B3D91"/>
                </a:solidFill>
              </a:rPr>
              <a:t>Temperature </a:t>
            </a:r>
            <a:r>
              <a:rPr sz="1400" b="0" i="0">
                <a:solidFill>
                  <a:srgbClr val="222222"/>
                </a:solidFill>
              </a:rPr>
              <a:t>is negatively correlated (r up to −0.50)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0B3D91"/>
                </a:solidFill>
              </a:rPr>
              <a:t>Humidity </a:t>
            </a:r>
            <a:r>
              <a:rPr sz="1400" b="0" i="0">
                <a:solidFill>
                  <a:srgbClr val="222222"/>
                </a:solidFill>
              </a:rPr>
              <a:t>is positively correlated (r up to +0.41)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Physics: </a:t>
            </a:r>
            <a:r>
              <a:rPr sz="1400" b="0" i="0">
                <a:solidFill>
                  <a:srgbClr val="222222"/>
                </a:solidFill>
              </a:rPr>
              <a:t>cool, humid nights and mornings mean a shallow boundary layer that traps smoke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Five tuned models + ensemble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920240"/>
          <a:ext cx="1051559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374903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Hyperparameters tuned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they matter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Ridge (+ poly)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alpha, polynomial degree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Shrinkage vs overfitting; interactions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K-Nearest Neighbours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k, weights, distance 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Small k memorises noise, large k over-smooths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SVR (RBF)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C, gamma, epsilon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Error penalty, kernel width, noise tolerance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n_estimators, max_depth, min_samples_leaf, max_features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Variance reduction; tree de-correlation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learning_rate, n_estimators, max_depth, min_child_weight, subsample, colsample, lambda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Step size × rounds; complexity; regularisation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Stacking ensemble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Meta RidgeCV alpha over RF + XGB + KNN + SVR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Combines models that err differently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5321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3D91"/>
                </a:solidFill>
              </a:rPr>
              <a:t>Validation: </a:t>
            </a:r>
            <a:r>
              <a:rPr sz="1300" b="0" i="0">
                <a:solidFill>
                  <a:srgbClr val="222222"/>
                </a:solidFill>
              </a:rPr>
              <a:t>train = Jan, Apr, 1 Jun; test = last full 24 h (2 Jun 06:00 → 3 Jun 06:00), never used in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Results: XGBoost has the lowest RMSE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41248" y="1828800"/>
          <a:ext cx="512064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44768" y="1874519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60120"/>
                <a:gridCol w="868680"/>
                <a:gridCol w="640080"/>
                <a:gridCol w="8229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µg/m³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MAE µg/m³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AQI acc.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12.3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0.22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Stacking Ensemble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0.21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KNN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69%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20.8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0.15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72%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SVR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21.6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11.8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Base: sensor mean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23.9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18.4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-0.11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49%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Base: global mean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24.1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-0.14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44768" y="534924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</a:rPr>
              <a:t>Note: the global-mean baseline scores 73% AQI accuracy simply because most test hours are Moderate — accuracy alone misleads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Best model: XGBoost diagnostics</a:t>
            </a:r>
          </a:p>
        </p:txBody>
      </p:sp>
      <p:pic>
        <p:nvPicPr>
          <p:cNvPr id="3" name="Picture 2" descr="04b_best_model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044" y="1783080"/>
            <a:ext cx="9278006" cy="2514600"/>
          </a:xfrm>
          <a:prstGeom prst="rect">
            <a:avLst/>
          </a:prstGeom>
        </p:spPr>
      </p:pic>
      <p:pic>
        <p:nvPicPr>
          <p:cNvPr id="4" name="Picture 3" descr="04d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298" y="4297680"/>
            <a:ext cx="3688219" cy="1828800"/>
          </a:xfrm>
          <a:prstGeom prst="rect">
            <a:avLst/>
          </a:prstGeom>
        </p:spPr>
      </p:pic>
      <p:pic>
        <p:nvPicPr>
          <p:cNvPr id="5" name="Picture 4" descr="04c_aqi_con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4348682"/>
            <a:ext cx="2286000" cy="17267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39327" y="4343400"/>
            <a:ext cx="301752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7014D"/>
                </a:solidFill>
              </a:rPr>
              <a:t>•  </a:t>
            </a:r>
            <a:r>
              <a:rPr sz="1200" b="1" i="0">
                <a:solidFill>
                  <a:srgbClr val="0B3D91"/>
                </a:solidFill>
              </a:rPr>
              <a:t>R² = 0.22</a:t>
            </a:r>
            <a:r>
              <a:rPr sz="1200" b="0" i="0">
                <a:solidFill>
                  <a:srgbClr val="222222"/>
                </a:solidFill>
              </a:rPr>
              <a:t>: explains ~22% of hourly variance with no recent readings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7014D"/>
                </a:solidFill>
              </a:rPr>
              <a:t>•  </a:t>
            </a:r>
            <a:r>
              <a:rPr sz="1200" b="1" i="0">
                <a:solidFill>
                  <a:srgbClr val="222222"/>
                </a:solidFill>
              </a:rPr>
              <a:t>Overfit gap </a:t>
            </a:r>
            <a:r>
              <a:rPr sz="1200" b="0" i="0">
                <a:solidFill>
                  <a:srgbClr val="222222"/>
                </a:solidFill>
              </a:rPr>
              <a:t>0.19 z (train 0.52 vs test 0.70)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August 2026 forecasts</a:t>
            </a:r>
          </a:p>
        </p:txBody>
      </p:sp>
      <p:pic>
        <p:nvPicPr>
          <p:cNvPr id="3" name="Picture 2" descr="05a_forecast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594" y="1783080"/>
            <a:ext cx="7198906" cy="2103120"/>
          </a:xfrm>
          <a:prstGeom prst="rect">
            <a:avLst/>
          </a:prstGeom>
        </p:spPr>
      </p:pic>
      <p:pic>
        <p:nvPicPr>
          <p:cNvPr id="4" name="Picture 3" descr="05c_forecast_hourly_aug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87" y="3931920"/>
            <a:ext cx="674404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13648" y="3977639"/>
            <a:ext cx="27432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7014D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</a:rPr>
              <a:t>Daily (1–16 Aug): 93% of sensor-days Moderate, 6% USG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7014D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</a:rPr>
              <a:t>1 Aug peaks at 06:00–08:00 and 21:00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7014D"/>
                </a:solidFill>
              </a:rPr>
              <a:t>•  </a:t>
            </a:r>
            <a:r>
              <a:rPr sz="1200" b="0" i="0">
                <a:solidFill>
                  <a:srgbClr val="222222"/>
                </a:solidFill>
              </a:rPr>
              <a:t>Band = ±1 test RMSE (≈ 20 µg/m³)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Bonus: at-risk sensors, 1 Aug 13:00</a:t>
            </a:r>
          </a:p>
        </p:txBody>
      </p:sp>
      <p:pic>
        <p:nvPicPr>
          <p:cNvPr id="3" name="Picture 2" descr="05e_bonus_map_13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26436"/>
            <a:ext cx="6949440" cy="3856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73568" y="2103120"/>
            <a:ext cx="338328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D7014D"/>
                </a:solidFill>
              </a:rPr>
              <a:t>2 of 149 </a:t>
            </a:r>
            <a:r>
              <a:rPr sz="1400" b="0" i="0">
                <a:solidFill>
                  <a:srgbClr val="222222"/>
                </a:solidFill>
              </a:rPr>
              <a:t>sensors in the USG → Very Unhealthy range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Sir Apollo Kagwa Road </a:t>
            </a:r>
            <a:r>
              <a:rPr sz="1400" b="0" i="0">
                <a:solidFill>
                  <a:srgbClr val="222222"/>
                </a:solidFill>
              </a:rPr>
              <a:t>≈ 50 µg/m³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1" i="0">
                <a:solidFill>
                  <a:srgbClr val="222222"/>
                </a:solidFill>
              </a:rPr>
              <a:t>Kamwokya Primary School </a:t>
            </a:r>
            <a:r>
              <a:rPr sz="1400" b="0" i="0">
                <a:solidFill>
                  <a:srgbClr val="222222"/>
                </a:solidFill>
              </a:rPr>
              <a:t>≈ 37 µg/m³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Both in central Kampala: dense traffic and roadside exposure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At 07:00 or 21:00 many more sites cross 35.5 µg/m³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Monitoring with Evidently AI</a:t>
            </a:r>
          </a:p>
        </p:txBody>
      </p:sp>
      <p:pic>
        <p:nvPicPr>
          <p:cNvPr id="3" name="Picture 2" descr="06a_evidently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59514"/>
            <a:ext cx="6675120" cy="182457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4343400"/>
          <a:ext cx="49377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28016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 (z units)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>
                    <a:solidFill>
                      <a:srgbClr val="0B3D91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0.52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0.70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MAE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Mean error (bias)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−0.01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99248" y="192024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7014D"/>
                </a:solidFill>
              </a:rPr>
              <a:t>•  </a:t>
            </a:r>
            <a:r>
              <a:rPr sz="1300" b="1" i="0">
                <a:solidFill>
                  <a:srgbClr val="0B3D91"/>
                </a:solidFill>
              </a:rPr>
              <a:t>Data drift </a:t>
            </a:r>
            <a:r>
              <a:rPr sz="1300" b="0" i="0">
                <a:solidFill>
                  <a:srgbClr val="222222"/>
                </a:solidFill>
              </a:rPr>
              <a:t>5 of 11 columns drift train → test: temperature, humidity, season flag, target and prediction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7014D"/>
                </a:solidFill>
              </a:rPr>
              <a:t>•  </a:t>
            </a:r>
            <a:r>
              <a:rPr sz="1300" b="1" i="0">
                <a:solidFill>
                  <a:srgbClr val="0B3D91"/>
                </a:solidFill>
              </a:rPr>
              <a:t>No drift </a:t>
            </a:r>
            <a:r>
              <a:rPr sz="1300" b="0" i="0">
                <a:solidFill>
                  <a:srgbClr val="222222"/>
                </a:solidFill>
              </a:rPr>
              <a:t>in hour, location or device mix: coverage is stable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7014D"/>
                </a:solidFill>
              </a:rPr>
              <a:t>•  </a:t>
            </a:r>
            <a:r>
              <a:rPr sz="1300" b="1" i="0">
                <a:solidFill>
                  <a:srgbClr val="D7014D"/>
                </a:solidFill>
              </a:rPr>
              <a:t>Model drift </a:t>
            </a:r>
            <a:r>
              <a:rPr sz="1300" b="0" i="0">
                <a:solidFill>
                  <a:srgbClr val="222222"/>
                </a:solidFill>
              </a:rPr>
              <a:t>RMSE +36% on new data with bias ≈ 0: generalisation gap, not a systematic shift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7014D"/>
                </a:solidFill>
              </a:rPr>
              <a:t>•  </a:t>
            </a:r>
            <a:r>
              <a:rPr sz="1300" b="1" i="0">
                <a:solidFill>
                  <a:srgbClr val="222222"/>
                </a:solidFill>
              </a:rPr>
              <a:t>Action </a:t>
            </a:r>
            <a:r>
              <a:rPr sz="1300" b="0" i="0">
                <a:solidFill>
                  <a:srgbClr val="222222"/>
                </a:solidFill>
              </a:rPr>
              <a:t>retrain when RMSE rises &gt; 20% or bias moves from 0; keep the previous version for rollback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Deployment on RunPod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" y="2148840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4208" y="21671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Pod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7432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Community Cloud GPU under $2/h (RTX A4000 / 3090 ≈ $0.2–0.7/h)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0288" y="2148840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1671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7432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RunPod PyTorch 2.x with Jupyter Lab, 20 GB disk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9659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56448" y="2148840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1671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7432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git clone the repo / upload data, pip install -r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23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4206240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2245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8006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bash deployment/run_on_runpod.sh, XGBoost on CUDA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4023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90288" y="4206240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2245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8006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pipeline_run.log, run_summary_runpod.json, screenshots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0233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56448" y="4206240"/>
            <a:ext cx="502920" cy="502920"/>
          </a:xfrm>
          <a:prstGeom prst="ellipse">
            <a:avLst/>
          </a:prstGeom>
          <a:solidFill>
            <a:srgbClr val="D70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422452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3D91"/>
                </a:solidFill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800600"/>
            <a:ext cx="2971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</a:rPr>
              <a:t>download outputs, terminate the pod (≈ $0.10 total)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731520"/>
            <a:ext cx="8869680" cy="731520"/>
          </a:xfrm>
        </p:spPr>
        <p:txBody>
          <a:bodyPr wrap="square" anchor="b"/>
          <a:lstStyle/>
          <a:p>
            <a:r>
              <a:rPr sz="2800" b="1">
                <a:solidFill>
                  <a:srgbClr val="1F497D"/>
                </a:solidFill>
              </a:rPr>
              <a:t>Conclusions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5074920" cy="40690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205740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3D91"/>
                </a:solidFill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560320"/>
            <a:ext cx="466344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Kampala air is mostly Moderate to USG, with Unhealthy spikes in the peak dry season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Clear diurnal cycle; cool, humid hours are dirtier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XGBoost is the best model: RMSE 20.0 µg/m³, R² 0.22, 71% AQI accuracy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Tree ensembles beat linear, KNN and SVR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965960"/>
            <a:ext cx="5074920" cy="4069080"/>
          </a:xfrm>
          <a:prstGeom prst="roundRect">
            <a:avLst>
              <a:gd name="adj" fmla="val 8000"/>
            </a:avLst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205740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D7014D"/>
                </a:solidFill>
              </a:rPr>
              <a:t>Limitations →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560320"/>
            <a:ext cx="466344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Only 7 days of history → pull months of data from the AirQo API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Climatological weather → use UNMA / Open-Meteo forecasts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No lag features → add a nowcasting model for the next hours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014D"/>
                </a:solidFill>
              </a:rPr>
              <a:t>•  </a:t>
            </a:r>
            <a:r>
              <a:rPr sz="1400" b="0" i="0">
                <a:solidFill>
                  <a:srgbClr val="222222"/>
                </a:solidFill>
              </a:rPr>
              <a:t>Automate Evidently checks, retraining and model rollback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Presentation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Wingdings</vt:lpstr>
      <vt:lpstr>Trebuchet MS</vt:lpstr>
      <vt:lpstr>Microsoft YaHei</vt:lpstr>
      <vt:lpstr>Arial Unicode MS</vt:lpstr>
      <vt:lpstr>Calibri</vt:lpstr>
      <vt:lpstr>1_Office Theme</vt:lpstr>
      <vt:lpstr>Machine learning system to flag which patients with a high risk of a stroke, so they can be proactively enrolled in the chronic clinic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paper</dc:title>
  <dc:creator>stephen kalyesubula</dc:creator>
  <cp:lastModifiedBy>Mercy Peace</cp:lastModifiedBy>
  <cp:revision>55</cp:revision>
  <dcterms:created xsi:type="dcterms:W3CDTF">2026-08-29T19:30:00Z</dcterms:created>
  <dcterms:modified xsi:type="dcterms:W3CDTF">2026-10-04T02:12:56Z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0D9B6753BC2041C6A3A26955495CF58D_13</vt:lpwstr>
  </property>
  <property fmtid="{D5CDD505-2E9C-101B-9397-08002B2CF9AE}" pid="3" name="KSOProductBuildVer">
    <vt:lpwstr>2057-12.2.0.23206</vt:lpwstr>
  </property>
</Properties>
</file>